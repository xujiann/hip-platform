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E36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0A2E36"/>
                </a:solidFill>
                <a:latin typeface="Microsoft YaHei"/>
              </a:rPr>
              <a:t>关键操作实测耗时（毫秒，越短越好）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响应耗时（毫秒）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2E36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日结按日窗口</c:v>
                  </c:pt>
                  <c:pt idx="1">
                    <c:v>药房工作队列</c:v>
                  </c:pt>
                  <c:pt idx="2">
                    <c:v>患者模糊检索</c:v>
                  </c:pt>
                  <c:pt idx="3">
                    <c:v>门诊挂号 P95</c:v>
                  </c:pt>
                  <c:pt idx="4">
                    <c:v>收费 P95</c:v>
                  </c:pt>
                  <c:pt idx="5">
                    <c:v>发药 P95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14</c:v>
                </c:pt>
                <c:pt idx="2">
                  <c:v>34</c:v>
                </c:pt>
                <c:pt idx="3">
                  <c:v>81</c:v>
                </c:pt>
                <c:pt idx="4">
                  <c:v>104</c:v>
                </c:pt>
                <c:pt idx="5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2E36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E7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b"/>
        <c:majorGridlines>
          <c:spPr>
            <a:ln w="12700" cap="flat">
              <a:solidFill>
                <a:srgbClr val="E4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开场：HIP 是一套已经完成全域功能建设、并用自动化手段证明过质量的医院信息平台。今天讲三件事：覆盖多广、做到多深、能不能落地。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强调可验证性：这些不是宣传数字，文档里附了复算命令，验收时可以当场跑。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痛点页要说人话。第三条并发事故是最能打动院方财务与信息科的——他们真遇到过。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全景页是客户最关心的覆盖度。按颜色深浅区分成熟度，后面完成度矩阵会展开讲。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门诊是医院最高频场景，也是最容易出资金事故的地方。四条防线都在后面有实测证据。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医保这块要讲报文留痕加双侧对账。很多系统只在本地记状态，渠道那边冲没冲不知道，事后无从查。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规模数据是投资方关心的：证明架构不是玩具，10 万级下没有性能悬崖。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对技术尽调的投资方讲：不追微服务时髦，因为客户是县域医院，运维能力有限。边界靠纪律和测试守住。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这页是诚信页。主动说清楚哪些是台账、哪些等外部条件，反而增加可信度——客户迟早会发现。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这是投资方最该记住的一页：竞品比功能表，我们比证明过。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这页对信息科主任杀伤力最大。他们大多经历过双倍扣款投诉，知道有多难查。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讲故事。这个案例证明团队的工程纪律，也证明 CI 不是摆设。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性能页要说清测试条件：10 万级、跨界 IO 的开发机。生产服务器只会更好。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投资方关心可复制性等于毛利率。客户关心升级不出事。这页两边都答了。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这页面向院方信息科。他们被上线即失联坑过，最看重运行保障。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诚实说明当前处于试点前夜。对投资方，重点是平台风险已出清，剩下的是市场验证。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收尾回到主线：覆盖度加上可证明的质量。留时间回答问题。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280160"/>
            <a:ext cx="5120640" cy="5120640"/>
          </a:xfrm>
          <a:prstGeom prst="ellipse">
            <a:avLst/>
          </a:prstGeom>
          <a:solidFill>
            <a:srgbClr val="0E7C7B">
              <a:alpha val="38000"/>
            </a:srgbClr>
          </a:solidFill>
          <a:ln w="12700">
            <a:solidFill>
              <a:srgbClr val="0E7C7B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-137160"/>
            <a:ext cx="2834640" cy="2834640"/>
          </a:xfrm>
          <a:prstGeom prst="ellipse">
            <a:avLst/>
          </a:prstGeom>
          <a:solidFill>
            <a:srgbClr val="00C2A8">
              <a:alpha val="45000"/>
            </a:srgbClr>
          </a:solidFill>
          <a:ln w="12700">
            <a:solidFill>
              <a:srgbClr val="00C2A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840480"/>
            <a:ext cx="2011680" cy="2011680"/>
          </a:xfrm>
          <a:prstGeom prst="ellipse">
            <a:avLst/>
          </a:prstGeom>
          <a:solidFill>
            <a:srgbClr val="00C2A8">
              <a:alpha val="22000"/>
            </a:srgbClr>
          </a:solidFill>
          <a:ln w="12700">
            <a:solidFill>
              <a:srgbClr val="00C2A8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7276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66928" y="2615184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医院信息化平台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351129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D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一体化数字底座 · 门诊 / 住院 / 医技 / 医保 / 数据中心全域覆盖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4937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5468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95728" y="4937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395728" y="5468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4937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224528" y="5468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53328" y="4937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53328" y="5468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端到端回归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1813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3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v1.2.10 · 2026 年 8 月 · 试点就绪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 HIP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不是原型，不是 Demo——全部数字由源码实测，可现场复算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92224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04672" y="259689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92608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门诊到后勤全域覆盖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9392" y="1536192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17136" y="1792224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406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17136" y="259689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业务接口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7136" y="292608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真实可调用的 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91856" y="1536192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792224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229600" y="259689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功能页面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92608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全 B/S 架构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4005072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04672" y="480974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513892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统一主索引与编码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79392" y="3749040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17136" y="4005072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4517136" y="480974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17136" y="513892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每次提交自动执行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91856" y="3749040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0" y="4005072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8229600" y="480974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端到端回归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513892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整条业务链路验证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1447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全部指标附复算命令，客户可在验收现场逐条核对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医院信息化的真实困境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不是没有系统，而是系统之间对不上账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94944" cy="69494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288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17904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多厂商拼装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17904" y="219456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挂号一家、收费一家、医保一家。接口对不齐，数据对不上，出了问题互相推诿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346704"/>
            <a:ext cx="694944" cy="69494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3467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17904" y="32735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数据孤岛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17904" y="3712464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同一个患者在各系统里是不同的号，临床看不到全貌，科研拿不到数据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864608"/>
            <a:ext cx="694944" cy="69494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8646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17904" y="47914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并发即事故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17904" y="5230368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窗口与自助机同时结算就双倍扣款，退费与发药撞车就钱药两空——事后查无可查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29984" y="1572768"/>
            <a:ext cx="4864608" cy="4572000"/>
          </a:xfrm>
          <a:prstGeom prst="roundRect">
            <a:avLst>
              <a:gd name="adj" fmla="val 1600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22592" y="18288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C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HIP 的答案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040880" y="260604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24871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一个平台承载全部业务域，账在一处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3319272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3200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统一患者主索引，一人一档贯穿门诊住院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40880" y="4032504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39136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关键写操作全部原子抢占，并发下只放行一次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40880" y="4745736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46268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每条防线都有多线程实测，不是「设计上安全」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40880" y="5458968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53400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未采购的模块可整体关闭，按院裁剪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业务全景：13 个域，一个平台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深色为核心业务闭环，浅色为管理与支撑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922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门诊业务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8096" y="21762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挂号 · 医生站 · 收费 · 药房 · 分诊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554480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7922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住院业务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21762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入院 · 医嘱 · 护理 · 出院结算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554480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7922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医保结算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64224" y="21762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分割 · 审核 · 上传 · 冲正 · 对账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554480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62288" y="17922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药品与库存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62288" y="21762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进销存 · 原子扣减 · 效期批号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35808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32735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8096" y="365760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 · RIS · 病理 · 麻醉 · 报告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64992" y="3035808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32735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66160" y="365760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CDR 归集 · 患者 360 视图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3035808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64224" y="32735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集成平台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64224" y="365760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HL7 / MLLP · 适配器 · 报文留痕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61120" y="3035808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62288" y="32735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患者端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62288" y="365760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· 报告查询 · 缴费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517136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5A6E73"/>
          </a:solidFill>
          <a:ln w="12700">
            <a:solidFill>
              <a:srgbClr val="5A6E7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8096" y="4754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质控与护理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8096" y="51389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DRG · 单病种 · 院感 · 风险评估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4992" y="4517136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5A6E73"/>
          </a:solidFill>
          <a:ln w="12700">
            <a:solidFill>
              <a:srgbClr val="5A6E7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66160" y="4754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运营后勤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566160" y="51389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 · 资产 · 采购 · 人事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056" y="4517136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5A6E73"/>
          </a:solidFill>
          <a:ln w="12700">
            <a:solidFill>
              <a:srgbClr val="5A6E7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64224" y="4754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64224" y="51389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数据标准 · 质量规则 · 上报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61120" y="4517136"/>
            <a:ext cx="2596896" cy="1280160"/>
          </a:xfrm>
          <a:prstGeom prst="roundRect">
            <a:avLst>
              <a:gd name="adj" fmla="val 5714"/>
            </a:avLst>
          </a:prstGeom>
          <a:solidFill>
            <a:srgbClr val="5A6E73"/>
          </a:solidFill>
          <a:ln w="12700">
            <a:solidFill>
              <a:srgbClr val="5A6E7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62288" y="4754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系统运维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162288" y="51389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F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 · 审计 · 巡检 · 备份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60899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域「患者主索引 EMPI」贯穿全部业务域，是一人一档的根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门诊闭环：一次就诊，七个环节不断链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统一订单行是收费、发药、执行的同一份数据源——费用不落两处账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0078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挂号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38528" y="1700784"/>
            <a:ext cx="210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700784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70078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1700784"/>
            <a:ext cx="210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30752" y="1700784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70078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接诊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02352" y="1700784"/>
            <a:ext cx="210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12664" y="1700784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2664" y="170078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84264" y="1700784"/>
            <a:ext cx="210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1700784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170078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66176" y="1700784"/>
            <a:ext cx="210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76488" y="1700784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6488" y="170078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48088" y="1700784"/>
            <a:ext cx="210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0" y="1700784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170078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2962656"/>
            <a:ext cx="5358384" cy="1481328"/>
          </a:xfrm>
          <a:prstGeom prst="roundRect">
            <a:avLst>
              <a:gd name="adj" fmla="val 4938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3364992"/>
            <a:ext cx="603504" cy="6035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364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54480" y="32369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原子占号防超挂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3621024"/>
            <a:ext cx="4224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号源扣减与挂号写入同一条件更新，并发抢号不会超出容量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63056" y="2962656"/>
            <a:ext cx="5358384" cy="1481328"/>
          </a:xfrm>
          <a:prstGeom prst="roundRect">
            <a:avLst>
              <a:gd name="adj" fmla="val 4938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364992"/>
            <a:ext cx="603504" cy="6035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364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50608" y="32369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合理用药五重拦截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50608" y="3621024"/>
            <a:ext cx="4224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过敏交叉、重复用药、药物相互作用、年龄禁忌、抗菌药分级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663440"/>
            <a:ext cx="5358384" cy="1481328"/>
          </a:xfrm>
          <a:prstGeom prst="roundRect">
            <a:avLst>
              <a:gd name="adj" fmla="val 4938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065776"/>
            <a:ext cx="603504" cy="6035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54480" y="49377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退号联动收费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54480" y="5321808"/>
            <a:ext cx="4224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已收费的号不允许直接退，避免钱号状态分叉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63056" y="4663440"/>
            <a:ext cx="5358384" cy="1481328"/>
          </a:xfrm>
          <a:prstGeom prst="roundRect">
            <a:avLst>
              <a:gd name="adj" fmla="val 4938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5065776"/>
            <a:ext cx="603504" cy="6035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50608" y="49377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结算与发药互斥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50608" y="5321808"/>
            <a:ext cx="4224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退费与发药同时发生时二者互斥，杜绝「钱已退、药也发了」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住院与医保：钱和药都要对得上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医保是院方最敏感的一环——冲正错一次就是真实资金损失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81051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住院业务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96112" y="2551176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4323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入院登记：原子占床，一张床不会挂两个患者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96112" y="3264408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1455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记账式医嘱：护士执行即扣库存，账物同步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3977640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858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押金与结算：出院结算自动冲抵押金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4690872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572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出院召回：结算冲销后恢复在院、床位重新占用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" y="5404104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52852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并发冲销互斥：重复提交只放行一次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0528" y="181051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医保结算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28816" y="2551176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24323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费用分割与目录对照：本院项目映射医保编码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28816" y="3264408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31455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事前审核：超限、超量、不予支付项就地提示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28816" y="397764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3858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结算上传与冲正：全程报文留痕，可追可查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28816" y="4690872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4572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双侧对账：门诊与住院同口径，悬账自动开工单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5404104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52852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年度累计额度：分割写入与冲销回退成对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数据中心与集成能力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把散在各业务域的数据归到一处，把院内已有系统接进来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83664"/>
            <a:ext cx="694944" cy="69494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8366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82496" y="18105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临床数据中心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82496" y="2231136"/>
            <a:ext cx="4133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门诊病历、住院病历、检查检验报告统一归集，患者 360 视图按时间轴串起全部就诊记录。增量同步带重叠窗与水位收敛，不漏不重。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4261104"/>
            <a:ext cx="694944" cy="6949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2611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82496" y="4187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集成平台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82496" y="4608576"/>
            <a:ext cx="4133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HL7 V2 / MLLP 标准接口接收院内 LIS、RIS 检验结果并自动回写医嘱与危急值；适配器出入站报文全量留痕，来源 IP 白名单强制校验。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91072" y="155448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81051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万级规模实测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83680" y="2249424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2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10 万患者 / 10 万挂号 / 20 万医嘱行的真实结构数据上复测：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0" y="27980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秒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583680" y="3218688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万份门诊文档全量归集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36576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 秒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583680" y="407822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出窗后增量同步，水位收敛正确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0" y="45171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毫秒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583680" y="493776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日结按日窗口查询，走索引扫描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53766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186.5 ops/s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6583680" y="579729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收费与发药混合并发吞吐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模块化单体：既有微服务的边界，又没有微服务的运维负担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6858000" cy="969264"/>
          </a:xfrm>
          <a:prstGeom prst="roundRect">
            <a:avLst>
              <a:gd name="adj" fmla="val 7547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0848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TypeScript 单页应用 · 患者端 H5 · 打印服务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688336"/>
            <a:ext cx="6858000" cy="1298448"/>
          </a:xfrm>
          <a:prstGeom prst="roundRect">
            <a:avLst>
              <a:gd name="adj" fmla="val 5634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21868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 · 住院 · 医技 · 医保 · 患者端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质控护理 · 运营后勤 · 数据治理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151376"/>
            <a:ext cx="6858000" cy="1298448"/>
          </a:xfrm>
          <a:prstGeom prst="roundRect">
            <a:avLst>
              <a:gd name="adj" fmla="val 5634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468172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认证授权 · 患者主索引 · 主数据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集成引擎 · 临床数据中心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5614416"/>
            <a:ext cx="6858000" cy="969264"/>
          </a:xfrm>
          <a:prstGeom prst="roundRect">
            <a:avLst>
              <a:gd name="adj" fmla="val 7547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5760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614476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21 + Spring Boot 3.5 · PostgreSQL 16 + Flyway 版本化迁移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35824" y="1554480"/>
            <a:ext cx="3858768" cy="4572000"/>
          </a:xfrm>
          <a:prstGeom prst="roundRect">
            <a:avLst>
              <a:gd name="adj" fmla="val 189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10144" y="18105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为什么是模块化单体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10144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边界清晰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10144" y="2706624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模块间禁止跨库直连，只走服务接口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10144" y="33649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一次部署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10144" y="367588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一个进程一个库，县级医院也运维得起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10144" y="43342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事务可靠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10144" y="464515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跨模块写操作在同一事务，不需要分布式补偿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10144" y="5303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可拆可关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10144" y="561441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模块开关按院启停，未来需要时可独立拆分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完成度矩阵：把话说清楚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各业务域成熟度差异是真实的，笼统说「已完成」会误导实施排期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27664" cy="1024128"/>
          </a:xfrm>
          <a:prstGeom prst="roundRect">
            <a:avLst>
              <a:gd name="adj" fmla="val 714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46504"/>
            <a:ext cx="603504" cy="6035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46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36192" y="17190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业务闭环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0665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有状态机、并发防线、事务边界，可直接上生产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25312" y="175564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 · 住院 · 医保 · 药品库存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· 数据中心 · 患者主索引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706624"/>
            <a:ext cx="11027664" cy="1024128"/>
          </a:xfrm>
          <a:prstGeom prst="roundRect">
            <a:avLst>
              <a:gd name="adj" fmla="val 714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2916936"/>
            <a:ext cx="603504" cy="60350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916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36192" y="28895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完整功能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36192" y="32369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功能齐备、有校验，业务规则相对线性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25312" y="292608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医技 · 患者端 · 系统运维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77056"/>
            <a:ext cx="11027664" cy="1024128"/>
          </a:xfrm>
          <a:prstGeom prst="roundRect">
            <a:avLst>
              <a:gd name="adj" fmla="val 714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" y="4087368"/>
            <a:ext cx="603504" cy="603504"/>
          </a:xfrm>
          <a:prstGeom prst="ellipse">
            <a:avLst/>
          </a:prstGeom>
          <a:solidFill>
            <a:srgbClr val="5A6E73"/>
          </a:solidFill>
          <a:ln w="12700">
            <a:solidFill>
              <a:srgbClr val="5A6E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087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36192" y="40599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台账报表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36192" y="44074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建档、登记、统计、导出为主，规则由实施期配置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25312" y="409651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质控护理 · 运营后勤 · 数据治理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047488"/>
            <a:ext cx="11027664" cy="1024128"/>
          </a:xfrm>
          <a:prstGeom prst="roundRect">
            <a:avLst>
              <a:gd name="adj" fmla="val 714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5257800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5257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36192" y="5230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接入点就绪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36192" y="55778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平台侧完成，等外部资质或 SDK 到位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25312" y="526694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医保渠道 · 聚合支付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电子签名 · AI 辅助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618134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级不是「没做完」——台账与统计类模块本就以数据完整性和报表口径为主，各院审批链差异极大，平台不预设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真正的差异不在功能表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功能谁都能列。区别在于：这些功能有没有被证明是对的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83664"/>
            <a:ext cx="2596896" cy="2011680"/>
          </a:xfrm>
          <a:prstGeom prst="roundRect">
            <a:avLst>
              <a:gd name="adj" fmla="val 3636"/>
            </a:avLst>
          </a:prstGeom>
          <a:solidFill>
            <a:srgbClr val="10424B"/>
          </a:solidFill>
          <a:ln w="12700">
            <a:solidFill>
              <a:srgbClr val="104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86384" y="28712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每次代码提交自动执行，失败即拦截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4992" y="1883664"/>
            <a:ext cx="2596896" cy="2011680"/>
          </a:xfrm>
          <a:prstGeom prst="roundRect">
            <a:avLst>
              <a:gd name="adj" fmla="val 3636"/>
            </a:avLst>
          </a:prstGeom>
          <a:solidFill>
            <a:srgbClr val="10424B"/>
          </a:solidFill>
          <a:ln w="12700">
            <a:solidFill>
              <a:srgbClr val="104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84448" y="28712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端到端回归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真实业务链路，不是接口打桩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883664"/>
            <a:ext cx="2596896" cy="2011680"/>
          </a:xfrm>
          <a:prstGeom prst="roundRect">
            <a:avLst>
              <a:gd name="adj" fmla="val 3636"/>
            </a:avLst>
          </a:prstGeom>
          <a:solidFill>
            <a:srgbClr val="10424B"/>
          </a:solidFill>
          <a:ln w="12700">
            <a:solidFill>
              <a:srgbClr val="104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82512" y="28712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轮代码审阅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121 项问题全部闭环，无遗留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61120" y="1883664"/>
            <a:ext cx="2596896" cy="2011680"/>
          </a:xfrm>
          <a:prstGeom prst="roundRect">
            <a:avLst>
              <a:gd name="adj" fmla="val 3636"/>
            </a:avLst>
          </a:prstGeom>
          <a:solidFill>
            <a:srgbClr val="10424B"/>
          </a:solidFill>
          <a:ln w="12700">
            <a:solidFill>
              <a:srgbClr val="104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180576" y="28712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待偿技术债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0576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交接单清空，接手无历史包袱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426110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持续集成把关：代码推送后自动跑完整回归，红灯不合并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" y="4910328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79145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后端全量测试 · 前端类型检查与构建 · 端到端回归 · 生产闸门冒烟，四条流水线并行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" y="544068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53218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环境有意与开发机不同（时区、核数、空库），专门用来暴露「本地看不出来」的问题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下一页：一个真实例子——CI 抓到了本地六线程测试看不出的资金风险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并发正确性：医院最贵的那类 Bug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窗口与自助机同时操作、双击提交、两个护士同时执行——线上一定会发生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94960" cy="2084832"/>
          </a:xfrm>
          <a:prstGeom prst="roundRect">
            <a:avLst>
              <a:gd name="adj" fmla="val 3509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739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如果没有防线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77824" y="22311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同一次就诊出两张结算单 → 患者被双倍扣款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77824" y="2560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同一张处方发两次药 → 库存凭空少一份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退费与发药同时发生 → 钱已退、药也发了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" y="32186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医保重复冲正 → 年度额度被多次冲销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877056"/>
            <a:ext cx="5394960" cy="2249424"/>
          </a:xfrm>
          <a:prstGeom prst="roundRect">
            <a:avLst>
              <a:gd name="adj" fmla="val 3252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HIP 的做法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7824" y="4535424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关键写操作全部用「条件更新 + 判定影响行数」抢占：数据库层面保证同一笔业务只有一方能改动状态，其余线程拿到 0 行，立刻收到可读提示而不是系统错误。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7739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七个抢占点，全部多线程实测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73952" y="2267712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22677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门诊结算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线程并发 · 仅 1 次放行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73952" y="2761488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76148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门诊发药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52560" y="276148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线程并发 · 仅 1 次放行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73952" y="3255264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325526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退费（明细）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52560" y="325526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线程并发 · 仅 1 次放行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73952" y="3749040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37490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退费（单据）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52560" y="374904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线程并发 · 仅 1 次放行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73952" y="4242816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424281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住院冲销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52560" y="424281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线程并发 · 仅 1 次放行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73952" y="4736592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473659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床位召回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52560" y="473659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线程并发 · 仅 1 次放行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73952" y="5230368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0256" y="52303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库存回补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52560" y="523036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线程并发 · 仅 1 次放行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73952" y="57241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同时断言「其余 5 线程必须全部被拦下」，否则不算真竞争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一个真实案例：本地全绿，CI 打红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这就是为什么「我们测过了」不等于「它是对的」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27664" cy="1024128"/>
          </a:xfrm>
          <a:prstGeom prst="roundRect">
            <a:avLst>
              <a:gd name="adj" fmla="val 714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46504"/>
            <a:ext cx="603504" cy="6035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46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36192" y="1847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写下防线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01568" y="1700784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门诊退费加并发测试，本地六线程跑，4 项全部通过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706624"/>
            <a:ext cx="11027664" cy="1024128"/>
          </a:xfrm>
          <a:prstGeom prst="roundRect">
            <a:avLst>
              <a:gd name="adj" fmla="val 714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916936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916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30175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推上 CI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1568" y="2871216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同一份代码在持续集成环境立刻打红：六个线程退费全部成功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877056"/>
            <a:ext cx="11027664" cy="1024128"/>
          </a:xfrm>
          <a:prstGeom prst="roundRect">
            <a:avLst>
              <a:gd name="adj" fmla="val 714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4087368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087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36192" y="41879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查出根因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01568" y="404164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退费只抢占了明细行，结算单本身仍是「读取—判断—写入」；本地先行线程已提交、后来者读到新状态被挡住，看起来完全正常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047488"/>
            <a:ext cx="11027664" cy="1024128"/>
          </a:xfrm>
          <a:prstGeom prst="roundRect">
            <a:avLst>
              <a:gd name="adj" fmla="val 714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5257800"/>
            <a:ext cx="603504" cy="6035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5257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36192" y="53583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修复并加固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01568" y="521208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照住院侧范式补上单据级抢占；测试改跑三轮，另加一条不依赖时序的确定性断言，任何机器恒定可复现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18134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后果如果没被发现：医保单重复冲正，年度额度被多次冲销——这是真实资金损失，且事后极难对账查出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性能实测基线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万级真实结构数据，环境比生产更苛刻（跨界 IO）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096512" cy="4480560"/>
          </a:xfrm>
          <a:prstGeom prst="roundRect">
            <a:avLst>
              <a:gd name="adj" fmla="val 1786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7922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规模与吞吐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0" y="23408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110.4 req/s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0" y="277977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并发挂号吞吐，防超挂仍成立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32552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186.5 ops/s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0" y="369417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收费与发药混合并发吞吐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41696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秒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772400" y="460857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万份文档全量归集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50840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异常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72400" y="552297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压测全程无系统错误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一套产品，多院复制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这是产品，不是项目定制——复制成本决定商业模型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58384" cy="1463040"/>
          </a:xfrm>
          <a:prstGeom prst="roundRect">
            <a:avLst>
              <a:gd name="adj" fmla="val 500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56816"/>
            <a:ext cx="603504" cy="60350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56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模块开关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212848"/>
            <a:ext cx="4224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未采购的模块整体关闭，菜单与路由都不出现，按院裁剪功能范围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63056" y="1554480"/>
            <a:ext cx="5358384" cy="1463040"/>
          </a:xfrm>
          <a:prstGeom prst="roundRect">
            <a:avLst>
              <a:gd name="adj" fmla="val 500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56816"/>
            <a:ext cx="603504" cy="60350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56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50608" y="1828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机构参数化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50608" y="2212848"/>
            <a:ext cx="4224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医院名称、单据号前缀、科室字典由配置与 CSV 导入，不改代码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236976"/>
            <a:ext cx="5358384" cy="1463040"/>
          </a:xfrm>
          <a:prstGeom prst="roundRect">
            <a:avLst>
              <a:gd name="adj" fmla="val 500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639312"/>
            <a:ext cx="603504" cy="60350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6393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5112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实施段隔离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895344"/>
            <a:ext cx="4224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各院定制的表与逻辑走独立编号段，与平台升级互不干扰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63056" y="3236976"/>
            <a:ext cx="5358384" cy="1463040"/>
          </a:xfrm>
          <a:prstGeom prst="roundRect">
            <a:avLst>
              <a:gd name="adj" fmla="val 5000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639312"/>
            <a:ext cx="603504" cy="60350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6393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0608" y="35112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版本化迁移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50608" y="3895344"/>
            <a:ext cx="4224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数据库变更全部版本化，升级自动前滚，可跨大版本直升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974336"/>
            <a:ext cx="11027664" cy="1371600"/>
          </a:xfrm>
          <a:prstGeom prst="roundRect">
            <a:avLst>
              <a:gd name="adj" fmla="val 5333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5212080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升级路径已实测：从 v1.0.0 装机造数据，直接换到当前版本同库启动，16 个数据库迁移零失败前滚，数据一行不差，老单号与新单号同日共存不冲突。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交付成熟度：不止代码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试点能不能跑起来，取决于代码之外的这些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27664" cy="786384"/>
          </a:xfrm>
          <a:prstGeom prst="roundRect">
            <a:avLst>
              <a:gd name="adj" fmla="val 9302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56232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17465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10128" y="17465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零到一装机、实施段共存、跨大版本升级，三条路径全部演练过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87168"/>
            <a:ext cx="11027664" cy="786384"/>
          </a:xfrm>
          <a:prstGeom prst="roundRect">
            <a:avLst>
              <a:gd name="adj" fmla="val 9302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788920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6791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运行保障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10128" y="267919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故障注入演练、备份恢复演练（恢复库能跑通业务回归）、自动巡检开工单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419856"/>
            <a:ext cx="11027664" cy="786384"/>
          </a:xfrm>
          <a:prstGeom prst="roundRect">
            <a:avLst>
              <a:gd name="adj" fmla="val 9302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721608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6118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36118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264 个业务错误码全部有速查表，一线遇到报错可自助定位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352544"/>
            <a:ext cx="11027664" cy="786384"/>
          </a:xfrm>
          <a:prstGeom prst="roundRect">
            <a:avLst>
              <a:gd name="adj" fmla="val 9302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654296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5445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培训交付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10128" y="4544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个角色的培训脚本，每角色 10–20 分钟，含近版变更标记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27664" cy="786384"/>
          </a:xfrm>
          <a:prstGeom prst="roundRect">
            <a:avLst>
              <a:gd name="adj" fmla="val 9302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5586984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5477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文档体系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10128" y="547725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部署、操作、配置三本手册对齐真实行为，27 份文档统一索引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27278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备份恢复的验收判据是「恢复出来的库能跑通业务回归」，而不是「能连上」——能连上不等于可用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当前状态与下一步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平台侧已试点就绪，接下来是真实医院里的验证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56432" cy="3145536"/>
          </a:xfrm>
          <a:prstGeom prst="roundRect">
            <a:avLst>
              <a:gd name="adj" fmla="val 2326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105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59536" y="251460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3957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全域功能建设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9536" y="306324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9443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五轮代码审阅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" y="361188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3493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性能与并发实证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" y="416052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40416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部署与运维演练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79392" y="1554480"/>
            <a:ext cx="3456432" cy="3145536"/>
          </a:xfrm>
          <a:prstGeom prst="roundRect">
            <a:avLst>
              <a:gd name="adj" fmla="val 232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53712" y="18105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72000" y="251460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3957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首家试点医院实施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0" y="306324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9443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真实医保渠道接入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361188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493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真实支付渠道接入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91856" y="1554480"/>
            <a:ext cx="3456432" cy="3145536"/>
          </a:xfrm>
          <a:prstGeom prst="roundRect">
            <a:avLst>
              <a:gd name="adj" fmla="val 232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66176" y="18105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8284464" y="2514600"/>
            <a:ext cx="137160" cy="1371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58784" y="23957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多实例部署演练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84464" y="3063240"/>
            <a:ext cx="137160" cy="1371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58784" y="29443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模块开关横向收口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84464" y="3611880"/>
            <a:ext cx="137160" cy="1371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58784" y="3493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百万级检索优化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4937760"/>
            <a:ext cx="11027664" cy="1316736"/>
          </a:xfrm>
          <a:prstGeom prst="roundRect">
            <a:avLst>
              <a:gd name="adj" fmla="val 555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6112" y="5175504"/>
            <a:ext cx="10387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四个外部接入点（医保渠道 / 聚合支付 / 电子签名 / AI 辅助）平台侧全部完成并有模拟实现，接入真实渠道属实施期工作，不阻塞平台交付。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5669280" cy="5669280"/>
          </a:xfrm>
          <a:prstGeom prst="ellipse">
            <a:avLst/>
          </a:prstGeom>
          <a:solidFill>
            <a:srgbClr val="0E7C7B">
              <a:alpha val="32000"/>
            </a:srgbClr>
          </a:solidFill>
          <a:ln w="12700">
            <a:solidFill>
              <a:srgbClr val="0E7C7B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097280"/>
            <a:ext cx="4023360" cy="4023360"/>
          </a:xfrm>
          <a:prstGeom prst="ellipse">
            <a:avLst/>
          </a:prstGeom>
          <a:solidFill>
            <a:srgbClr val="00C2A8">
              <a:alpha val="28000"/>
            </a:srgbClr>
          </a:solidFill>
          <a:ln w="12700">
            <a:solidFill>
              <a:srgbClr val="00C2A8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7510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功能可以列，质量必须证明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98094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B9D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HIP 把两件事都做了：13 个业务域的完整覆盖，和 154 项自动化测试、20 套端到端回归、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B9D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七个并发抢占点多线程实证撑起来的可靠性。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45354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5120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61488" y="45354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61488" y="5120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56048" y="45354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56048" y="5120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50608" y="45354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150608" y="5120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待偿技术债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60899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3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HIP 医院信息化平台 · v1.2.10 · 2026 年 8 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HIP 医院信息化平台</dc:title>
  <dc:subject>PptxGenJS Presentation</dc:subject>
  <dc:creator>HIP Platform</dc:creator>
  <cp:lastModifiedBy>HIP Platform</cp:lastModifiedBy>
  <cp:revision>1</cp:revision>
  <dcterms:created xsi:type="dcterms:W3CDTF">2026-08-25T02:09:55Z</dcterms:created>
  <dcterms:modified xsi:type="dcterms:W3CDTF">2026-08-25T02:09:55Z</dcterms:modified>
</cp:coreProperties>
</file>